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>
      <a:lvl1pPr>
        <a:defRPr sz="2500"/>
      </a:lvl1pPr>
    </p:titleStyle>
    <p:bodyStyle>
      <a:lvl1pPr>
        <a:defRPr sz="15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From heterogeneous extracts to reviewable evidence</a:t>
            </a:r>
            <a:endParaRPr lang="en-US" sz="2500"/>
          </a:p>
        </p:txBody>
      </p:sp>
      <p:sp>
        <p:nvSpPr>
          <p:cNvPr id="5" name="Hero panel"/>
          <p:cNvSpPr/>
          <p:nvPr/>
        </p:nvSpPr>
        <p:spPr>
          <a:xfrm>
            <a:off x="522000" y="1494000"/>
            <a:ext cx="10296000" cy="2484000"/>
          </a:xfrm>
          <a:prstGeom prst="roundRect">
            <a:avLst/>
          </a:prstGeom>
          <a:solidFill>
            <a:srgbClr val="E3F1EF"/>
          </a:solidFill>
          <a:ln>
            <a:noFill/>
          </a:ln>
        </p:spPr>
      </p:sp>
      <p:sp>
        <p:nvSpPr>
          <p:cNvPr id="6" name="Hero text"/>
          <p:cNvSpPr txBox="1"/>
          <p:nvPr/>
        </p:nvSpPr>
        <p:spPr>
          <a:xfrm>
            <a:off x="792000" y="1782000"/>
            <a:ext cx="9720000" cy="19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30000"/>
              </a:lnSpc>
            </a:pPr>
            <a:r>
              <a:rPr lang="en-US" sz="1900">
                <a:solidFill>
                  <a:srgbClr val="315C67"/>
                </a:solidFill>
                <a:latin typeface="Aptos"/>
              </a:rPr>
              <a:t>Regional health expenditure harmonisation prototype</a:t>
            </a:r>
            <a:endParaRPr lang="en-US" sz="1900"/>
          </a:p>
          <a:p>
            <a:pPr marL="0" indent="0" algn="l">
              <a:lnSpc>
                <a:spcPct val="130000"/>
              </a:lnSpc>
            </a:pPr>
            <a:r>
              <a:rPr lang="en-US" sz="1900">
                <a:solidFill>
                  <a:srgbClr val="315C67"/>
                </a:solidFill>
                <a:latin typeface="Aptos"/>
              </a:rPr>
              <a:t>Technical assessment · September 2026</a:t>
            </a:r>
            <a:endParaRPr lang="en-US" sz="1900"/>
          </a:p>
          <a:p>
            <a:pPr marL="0" indent="0" algn="l">
              <a:lnSpc>
                <a:spcPct val="130000"/>
              </a:lnSpc>
            </a:pPr>
            <a:r>
              <a:rPr lang="en-US" sz="1900">
                <a:solidFill>
                  <a:srgbClr val="315C67"/>
                </a:solidFill>
                <a:latin typeface="Aptos"/>
              </a:rPr>
              <a:t>A compact, auditable path from country financial extracts to analyst decisions</a:t>
            </a:r>
            <a:endParaRPr lang="en-US" sz="1900"/>
          </a:p>
        </p:txBody>
      </p:sp>
      <p:sp>
        <p:nvSpPr>
          <p:cNvPr id="7" name="Pill"/>
          <p:cNvSpPr/>
          <p:nvPr/>
        </p:nvSpPr>
        <p:spPr>
          <a:xfrm>
            <a:off x="522000" y="4572000"/>
            <a:ext cx="3240000" cy="396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8" name="Pill text"/>
          <p:cNvSpPr txBox="1"/>
          <p:nvPr/>
        </p:nvSpPr>
        <p:spPr>
          <a:xfrm>
            <a:off x="648000" y="4662000"/>
            <a:ext cx="3000000" cy="19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AUDITABLE · ADAPTABLE · REVIEWABLE</a:t>
            </a:r>
            <a:endParaRPr lang="en-US" sz="900"/>
          </a:p>
        </p:txBody>
      </p:sp>
      <p:sp>
        <p:nvSpPr>
          <p:cNvPr id="9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10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1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Interpretation and design principles</a:t>
            </a:r>
            <a:endParaRPr lang="en-US" sz="2500"/>
          </a:p>
        </p:txBody>
      </p:sp>
      <p:sp>
        <p:nvSpPr>
          <p:cNvPr id="5" name="Bullet 5"/>
          <p:cNvSpPr/>
          <p:nvPr/>
        </p:nvSpPr>
        <p:spPr>
          <a:xfrm>
            <a:off x="594000" y="1548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92000" y="1422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Preserve source truth and make every transformation traceable.</a:t>
            </a:r>
            <a:endParaRPr lang="en-US" sz="1500"/>
          </a:p>
        </p:txBody>
      </p:sp>
      <p:sp>
        <p:nvSpPr>
          <p:cNvPr id="7" name="Bullet 7"/>
          <p:cNvSpPr/>
          <p:nvPr/>
        </p:nvSpPr>
        <p:spPr>
          <a:xfrm>
            <a:off x="594000" y="2286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8" name="Body 8"/>
          <p:cNvSpPr txBox="1"/>
          <p:nvPr/>
        </p:nvSpPr>
        <p:spPr>
          <a:xfrm>
            <a:off x="792000" y="2160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Separate country-specific ingestion from the common analytical model.</a:t>
            </a:r>
            <a:endParaRPr lang="en-US" sz="1500"/>
          </a:p>
        </p:txBody>
      </p:sp>
      <p:sp>
        <p:nvSpPr>
          <p:cNvPr id="9" name="Bullet 9"/>
          <p:cNvSpPr/>
          <p:nvPr/>
        </p:nvSpPr>
        <p:spPr>
          <a:xfrm>
            <a:off x="594000" y="3024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0" name="Body 10"/>
          <p:cNvSpPr txBox="1"/>
          <p:nvPr/>
        </p:nvSpPr>
        <p:spPr>
          <a:xfrm>
            <a:off x="792000" y="2898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Never hide uncertainty: auto-classify only defensible mappings.</a:t>
            </a:r>
            <a:endParaRPr lang="en-US" sz="1500"/>
          </a:p>
        </p:txBody>
      </p:sp>
      <p:sp>
        <p:nvSpPr>
          <p:cNvPr id="11" name="Bullet 11"/>
          <p:cNvSpPr/>
          <p:nvPr/>
        </p:nvSpPr>
        <p:spPr>
          <a:xfrm>
            <a:off x="594000" y="3762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2" name="Body 12"/>
          <p:cNvSpPr txBox="1"/>
          <p:nvPr/>
        </p:nvSpPr>
        <p:spPr>
          <a:xfrm>
            <a:off x="792000" y="3636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Keep currencies separate without governed exchange rates.</a:t>
            </a:r>
            <a:endParaRPr lang="en-US" sz="1500"/>
          </a:p>
        </p:txBody>
      </p:sp>
      <p:sp>
        <p:nvSpPr>
          <p:cNvPr id="13" name="Bullet 13"/>
          <p:cNvSpPr/>
          <p:nvPr/>
        </p:nvSpPr>
        <p:spPr>
          <a:xfrm>
            <a:off x="594000" y="4500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4" name="Body 14"/>
          <p:cNvSpPr txBox="1"/>
          <p:nvPr/>
        </p:nvSpPr>
        <p:spPr>
          <a:xfrm>
            <a:off x="792000" y="4374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Optimize the prototype for explanation, adaptation and analyst review.</a:t>
            </a:r>
            <a:endParaRPr lang="en-US" sz="1500"/>
          </a:p>
        </p:txBody>
      </p:sp>
      <p:sp>
        <p:nvSpPr>
          <p:cNvPr id="15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16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2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Architecture and data flow</a:t>
            </a:r>
            <a:endParaRPr lang="en-US" sz="2500"/>
          </a:p>
        </p:txBody>
      </p:sp>
      <p:sp>
        <p:nvSpPr>
          <p:cNvPr id="5" name="Flow 5"/>
          <p:cNvSpPr/>
          <p:nvPr/>
        </p:nvSpPr>
        <p:spPr>
          <a:xfrm>
            <a:off x="594000" y="1368000"/>
            <a:ext cx="10260000" cy="414000"/>
          </a:xfrm>
          <a:prstGeom prst="roundRect">
            <a:avLst/>
          </a:prstGeom>
          <a:solidFill>
            <a:srgbClr val="DCEDEA"/>
          </a:solidFill>
          <a:ln>
            <a:noFill/>
          </a:ln>
        </p:spPr>
      </p:sp>
      <p:sp>
        <p:nvSpPr>
          <p:cNvPr id="6" name="Flow text 6"/>
          <p:cNvSpPr txBox="1"/>
          <p:nvPr/>
        </p:nvSpPr>
        <p:spPr>
          <a:xfrm>
            <a:off x="738000" y="1458000"/>
            <a:ext cx="9900000" cy="23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300">
                <a:solidFill>
                  <a:srgbClr val="23384A"/>
                </a:solidFill>
                <a:latin typeface="Aptos"/>
              </a:rPr>
              <a:t>CSV · XLSX · JSON</a:t>
            </a:r>
            <a:endParaRPr lang="en-US" sz="1300"/>
          </a:p>
        </p:txBody>
      </p:sp>
      <p:sp>
        <p:nvSpPr>
          <p:cNvPr id="7" name="Flow 7"/>
          <p:cNvSpPr/>
          <p:nvPr/>
        </p:nvSpPr>
        <p:spPr>
          <a:xfrm>
            <a:off x="594000" y="1872000"/>
            <a:ext cx="10260000" cy="414000"/>
          </a:xfrm>
          <a:prstGeom prst="roundRect">
            <a:avLst/>
          </a:prstGeom>
          <a:solidFill>
            <a:srgbClr val="E7EEF2"/>
          </a:solidFill>
          <a:ln>
            <a:noFill/>
          </a:ln>
        </p:spPr>
      </p:sp>
      <p:sp>
        <p:nvSpPr>
          <p:cNvPr id="8" name="Flow text 8"/>
          <p:cNvSpPr txBox="1"/>
          <p:nvPr/>
        </p:nvSpPr>
        <p:spPr>
          <a:xfrm>
            <a:off x="738000" y="1962000"/>
            <a:ext cx="9900000" cy="23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300">
                <a:solidFill>
                  <a:srgbClr val="23384A"/>
                </a:solidFill>
                <a:latin typeface="Aptos"/>
              </a:rPr>
              <a:t>↓  country adapters</a:t>
            </a:r>
            <a:endParaRPr lang="en-US" sz="1300"/>
          </a:p>
        </p:txBody>
      </p:sp>
      <p:sp>
        <p:nvSpPr>
          <p:cNvPr id="9" name="Flow 9"/>
          <p:cNvSpPr/>
          <p:nvPr/>
        </p:nvSpPr>
        <p:spPr>
          <a:xfrm>
            <a:off x="594000" y="2376000"/>
            <a:ext cx="10260000" cy="414000"/>
          </a:xfrm>
          <a:prstGeom prst="roundRect">
            <a:avLst/>
          </a:prstGeom>
          <a:solidFill>
            <a:srgbClr val="DCEDEA"/>
          </a:solidFill>
          <a:ln>
            <a:noFill/>
          </a:ln>
        </p:spPr>
      </p:sp>
      <p:sp>
        <p:nvSpPr>
          <p:cNvPr id="10" name="Flow text 10"/>
          <p:cNvSpPr txBox="1"/>
          <p:nvPr/>
        </p:nvSpPr>
        <p:spPr>
          <a:xfrm>
            <a:off x="738000" y="2466000"/>
            <a:ext cx="9900000" cy="23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300" b="1">
                <a:solidFill>
                  <a:srgbClr val="23384A"/>
                </a:solidFill>
                <a:latin typeface="Aptos"/>
              </a:rPr>
              <a:t>Harmonised record contract  →  validation and coded issues</a:t>
            </a:r>
            <a:endParaRPr lang="en-US" sz="1300"/>
          </a:p>
        </p:txBody>
      </p:sp>
      <p:sp>
        <p:nvSpPr>
          <p:cNvPr id="11" name="Flow 11"/>
          <p:cNvSpPr/>
          <p:nvPr/>
        </p:nvSpPr>
        <p:spPr>
          <a:xfrm>
            <a:off x="594000" y="2880000"/>
            <a:ext cx="10260000" cy="414000"/>
          </a:xfrm>
          <a:prstGeom prst="roundRect">
            <a:avLst/>
          </a:prstGeom>
          <a:solidFill>
            <a:srgbClr val="E7EEF2"/>
          </a:solidFill>
          <a:ln>
            <a:noFill/>
          </a:ln>
        </p:spPr>
      </p:sp>
      <p:sp>
        <p:nvSpPr>
          <p:cNvPr id="12" name="Flow text 12"/>
          <p:cNvSpPr txBox="1"/>
          <p:nvPr/>
        </p:nvSpPr>
        <p:spPr>
          <a:xfrm>
            <a:off x="738000" y="2970000"/>
            <a:ext cx="9900000" cy="23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300">
                <a:solidFill>
                  <a:srgbClr val="23384A"/>
                </a:solidFill>
                <a:latin typeface="Aptos"/>
              </a:rPr>
              <a:t>↓</a:t>
            </a:r>
            <a:endParaRPr lang="en-US" sz="1300"/>
          </a:p>
        </p:txBody>
      </p:sp>
      <p:sp>
        <p:nvSpPr>
          <p:cNvPr id="13" name="Flow 13"/>
          <p:cNvSpPr/>
          <p:nvPr/>
        </p:nvSpPr>
        <p:spPr>
          <a:xfrm>
            <a:off x="594000" y="3384000"/>
            <a:ext cx="10260000" cy="414000"/>
          </a:xfrm>
          <a:prstGeom prst="roundRect">
            <a:avLst/>
          </a:prstGeom>
          <a:solidFill>
            <a:srgbClr val="DCEDEA"/>
          </a:solidFill>
          <a:ln>
            <a:noFill/>
          </a:ln>
        </p:spPr>
      </p:sp>
      <p:sp>
        <p:nvSpPr>
          <p:cNvPr id="14" name="Flow text 14"/>
          <p:cNvSpPr txBox="1"/>
          <p:nvPr/>
        </p:nvSpPr>
        <p:spPr>
          <a:xfrm>
            <a:off x="738000" y="3474000"/>
            <a:ext cx="9900000" cy="23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300" b="1">
                <a:solidFill>
                  <a:srgbClr val="23384A"/>
                </a:solidFill>
                <a:latin typeface="Aptos"/>
              </a:rPr>
              <a:t>Account rules + cautious text fallback  →  SQLite</a:t>
            </a:r>
            <a:endParaRPr lang="en-US" sz="1300"/>
          </a:p>
        </p:txBody>
      </p:sp>
      <p:sp>
        <p:nvSpPr>
          <p:cNvPr id="15" name="Flow 15"/>
          <p:cNvSpPr/>
          <p:nvPr/>
        </p:nvSpPr>
        <p:spPr>
          <a:xfrm>
            <a:off x="594000" y="3888000"/>
            <a:ext cx="10260000" cy="414000"/>
          </a:xfrm>
          <a:prstGeom prst="roundRect">
            <a:avLst/>
          </a:prstGeom>
          <a:solidFill>
            <a:srgbClr val="E7EEF2"/>
          </a:solidFill>
          <a:ln>
            <a:noFill/>
          </a:ln>
        </p:spPr>
      </p:sp>
      <p:sp>
        <p:nvSpPr>
          <p:cNvPr id="16" name="Flow text 16"/>
          <p:cNvSpPr txBox="1"/>
          <p:nvPr/>
        </p:nvSpPr>
        <p:spPr>
          <a:xfrm>
            <a:off x="738000" y="3978000"/>
            <a:ext cx="9900000" cy="23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300">
                <a:solidFill>
                  <a:srgbClr val="23384A"/>
                </a:solidFill>
                <a:latin typeface="Aptos"/>
              </a:rPr>
              <a:t>↓</a:t>
            </a:r>
            <a:endParaRPr lang="en-US" sz="1300"/>
          </a:p>
        </p:txBody>
      </p:sp>
      <p:sp>
        <p:nvSpPr>
          <p:cNvPr id="17" name="Flow 17"/>
          <p:cNvSpPr/>
          <p:nvPr/>
        </p:nvSpPr>
        <p:spPr>
          <a:xfrm>
            <a:off x="594000" y="4392000"/>
            <a:ext cx="10260000" cy="414000"/>
          </a:xfrm>
          <a:prstGeom prst="roundRect">
            <a:avLst/>
          </a:prstGeom>
          <a:solidFill>
            <a:srgbClr val="FFF0D6"/>
          </a:solidFill>
          <a:ln>
            <a:noFill/>
          </a:ln>
        </p:spPr>
      </p:sp>
      <p:sp>
        <p:nvSpPr>
          <p:cNvPr id="18" name="Flow text 18"/>
          <p:cNvSpPr txBox="1"/>
          <p:nvPr/>
        </p:nvSpPr>
        <p:spPr>
          <a:xfrm>
            <a:off x="738000" y="4482000"/>
            <a:ext cx="9900000" cy="23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300" b="1">
                <a:solidFill>
                  <a:srgbClr val="23384A"/>
                </a:solidFill>
                <a:latin typeface="Aptos"/>
              </a:rPr>
              <a:t>FastAPI  →  analyst review UI  →  audited decisions</a:t>
            </a:r>
            <a:endParaRPr lang="en-US" sz="1300"/>
          </a:p>
        </p:txBody>
      </p:sp>
      <p:sp>
        <p:nvSpPr>
          <p:cNvPr id="19" name="Flow 19"/>
          <p:cNvSpPr/>
          <p:nvPr/>
        </p:nvSpPr>
        <p:spPr>
          <a:xfrm>
            <a:off x="594000" y="4896000"/>
            <a:ext cx="10260000" cy="414000"/>
          </a:xfrm>
          <a:prstGeom prst="roundRect">
            <a:avLst/>
          </a:prstGeom>
          <a:solidFill>
            <a:srgbClr val="E7EEF2"/>
          </a:solidFill>
          <a:ln>
            <a:noFill/>
          </a:ln>
        </p:spPr>
      </p:sp>
      <p:sp>
        <p:nvSpPr>
          <p:cNvPr id="20" name="Flow text 20"/>
          <p:cNvSpPr txBox="1"/>
          <p:nvPr/>
        </p:nvSpPr>
        <p:spPr>
          <a:xfrm>
            <a:off x="738000" y="4986000"/>
            <a:ext cx="9900000" cy="23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300">
                <a:solidFill>
                  <a:srgbClr val="23384A"/>
                </a:solidFill>
                <a:latin typeface="Aptos"/>
              </a:rPr>
              <a:t>Invalid amounts branch to a visible quarantine—not silent loss.</a:t>
            </a:r>
            <a:endParaRPr lang="en-US" sz="1300"/>
          </a:p>
        </p:txBody>
      </p:sp>
      <p:sp>
        <p:nvSpPr>
          <p:cNvPr id="21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22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3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Harmonised model and end-to-end lineage</a:t>
            </a:r>
            <a:endParaRPr lang="en-US" sz="2500"/>
          </a:p>
        </p:txBody>
      </p:sp>
      <p:sp>
        <p:nvSpPr>
          <p:cNvPr id="5" name="Bullet 5"/>
          <p:cNvSpPr/>
          <p:nvPr/>
        </p:nvSpPr>
        <p:spPr>
          <a:xfrm>
            <a:off x="594000" y="1548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92000" y="1422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One fact grain; Country C children replace parents when supplied.</a:t>
            </a:r>
            <a:endParaRPr lang="en-US" sz="1500"/>
          </a:p>
        </p:txBody>
      </p:sp>
      <p:sp>
        <p:nvSpPr>
          <p:cNvPr id="7" name="Bullet 7"/>
          <p:cNvSpPr/>
          <p:nvPr/>
        </p:nvSpPr>
        <p:spPr>
          <a:xfrm>
            <a:off x="594000" y="2286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8" name="Body 8"/>
          <p:cNvSpPr txBox="1"/>
          <p:nvPr/>
        </p:nvSpPr>
        <p:spPr>
          <a:xfrm>
            <a:off x="792000" y="2160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Original amount/currency, entity, account, description, supplier and period.</a:t>
            </a:r>
            <a:endParaRPr lang="en-US" sz="1500"/>
          </a:p>
        </p:txBody>
      </p:sp>
      <p:sp>
        <p:nvSpPr>
          <p:cNvPr id="9" name="Bullet 9"/>
          <p:cNvSpPr/>
          <p:nvPr/>
        </p:nvSpPr>
        <p:spPr>
          <a:xfrm>
            <a:off x="594000" y="3024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0" name="Body 10"/>
          <p:cNvSpPr txBox="1"/>
          <p:nvPr/>
        </p:nvSpPr>
        <p:spPr>
          <a:xfrm>
            <a:off x="792000" y="2898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Source file + SHA-256 + locator + source/parent IDs + preserved raw JSON.</a:t>
            </a:r>
            <a:endParaRPr lang="en-US" sz="1500"/>
          </a:p>
        </p:txBody>
      </p:sp>
      <p:sp>
        <p:nvSpPr>
          <p:cNvPr id="11" name="Bullet 11"/>
          <p:cNvSpPr/>
          <p:nvPr/>
        </p:nvSpPr>
        <p:spPr>
          <a:xfrm>
            <a:off x="594000" y="3762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2" name="Body 12"/>
          <p:cNvSpPr txBox="1"/>
          <p:nvPr/>
        </p:nvSpPr>
        <p:spPr>
          <a:xfrm>
            <a:off x="792000" y="3636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Separate quality issues, rejected records and classification history.</a:t>
            </a:r>
            <a:endParaRPr lang="en-US" sz="1500"/>
          </a:p>
        </p:txBody>
      </p:sp>
      <p:sp>
        <p:nvSpPr>
          <p:cNvPr id="13" name="Bullet 13"/>
          <p:cNvSpPr/>
          <p:nvPr/>
        </p:nvSpPr>
        <p:spPr>
          <a:xfrm>
            <a:off x="594000" y="4500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4" name="Body 14"/>
          <p:cNvSpPr txBox="1"/>
          <p:nvPr/>
        </p:nvSpPr>
        <p:spPr>
          <a:xfrm>
            <a:off x="792000" y="4374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Country-owned charts of accounts avoid false code equivalence.</a:t>
            </a:r>
            <a:endParaRPr lang="en-US" sz="1500"/>
          </a:p>
        </p:txBody>
      </p:sp>
      <p:sp>
        <p:nvSpPr>
          <p:cNvPr id="15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16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4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Country-specific differences stay at the edge</a:t>
            </a:r>
            <a:endParaRPr lang="en-US" sz="2500"/>
          </a:p>
        </p:txBody>
      </p:sp>
      <p:sp>
        <p:nvSpPr>
          <p:cNvPr id="5" name="Bullet 5"/>
          <p:cNvSpPr/>
          <p:nvPr/>
        </p:nvSpPr>
        <p:spPr>
          <a:xfrm>
            <a:off x="594000" y="1548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92000" y="1422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A · CSV · English · DD/MM/YYYY · KES · quoted amount anomalies</a:t>
            </a:r>
            <a:endParaRPr lang="en-US" sz="1500"/>
          </a:p>
        </p:txBody>
      </p:sp>
      <p:sp>
        <p:nvSpPr>
          <p:cNvPr id="7" name="Bullet 7"/>
          <p:cNvSpPr/>
          <p:nvPr/>
        </p:nvSpPr>
        <p:spPr>
          <a:xfrm>
            <a:off x="594000" y="2286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8" name="Body 8"/>
          <p:cNvSpPr txBox="1"/>
          <p:nvPr/>
        </p:nvSpPr>
        <p:spPr>
          <a:xfrm>
            <a:off x="792000" y="2160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B · XLSX · 7-row preamble · French · DD-MM-YYYY · XOF · CoA sheet</a:t>
            </a:r>
            <a:endParaRPr lang="en-US" sz="1500"/>
          </a:p>
        </p:txBody>
      </p:sp>
      <p:sp>
        <p:nvSpPr>
          <p:cNvPr id="9" name="Bullet 9"/>
          <p:cNvSpPr/>
          <p:nvPr/>
        </p:nvSpPr>
        <p:spPr>
          <a:xfrm>
            <a:off x="594000" y="3024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0" name="Body 10"/>
          <p:cNvSpPr txBox="1"/>
          <p:nvPr/>
        </p:nvSpPr>
        <p:spPr>
          <a:xfrm>
            <a:off x="792000" y="2898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C · JSON · nested splits · null descriptions · RWF and USD</a:t>
            </a:r>
            <a:endParaRPr lang="en-US" sz="1500"/>
          </a:p>
        </p:txBody>
      </p:sp>
      <p:sp>
        <p:nvSpPr>
          <p:cNvPr id="11" name="Bullet 11"/>
          <p:cNvSpPr/>
          <p:nvPr/>
        </p:nvSpPr>
        <p:spPr>
          <a:xfrm>
            <a:off x="594000" y="3762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2" name="Body 12"/>
          <p:cNvSpPr txBox="1"/>
          <p:nvPr/>
        </p:nvSpPr>
        <p:spPr>
          <a:xfrm>
            <a:off x="792000" y="3636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All adapters emit the same typed contract.</a:t>
            </a:r>
            <a:endParaRPr lang="en-US" sz="1500"/>
          </a:p>
        </p:txBody>
      </p:sp>
      <p:sp>
        <p:nvSpPr>
          <p:cNvPr id="13" name="Bullet 13"/>
          <p:cNvSpPr/>
          <p:nvPr/>
        </p:nvSpPr>
        <p:spPr>
          <a:xfrm>
            <a:off x="594000" y="4500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4" name="Body 14"/>
          <p:cNvSpPr txBox="1"/>
          <p:nvPr/>
        </p:nvSpPr>
        <p:spPr>
          <a:xfrm>
            <a:off x="792000" y="4374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New country = adapter + configuration + references + contract tests.</a:t>
            </a:r>
            <a:endParaRPr lang="en-US" sz="1500"/>
          </a:p>
        </p:txBody>
      </p:sp>
      <p:sp>
        <p:nvSpPr>
          <p:cNvPr id="15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16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5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Classification with a safe failure mode</a:t>
            </a:r>
            <a:endParaRPr lang="en-US" sz="2500"/>
          </a:p>
        </p:txBody>
      </p:sp>
      <p:sp>
        <p:nvSpPr>
          <p:cNvPr id="5" name="Bullet 5"/>
          <p:cNvSpPr/>
          <p:nvPr/>
        </p:nvSpPr>
        <p:spPr>
          <a:xfrm>
            <a:off x="594000" y="1548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92000" y="1422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Exact country/account rules are primary, transparent and configurable.</a:t>
            </a:r>
            <a:endParaRPr lang="en-US" sz="1500"/>
          </a:p>
        </p:txBody>
      </p:sp>
      <p:sp>
        <p:nvSpPr>
          <p:cNvPr id="7" name="Bullet 7"/>
          <p:cNvSpPr/>
          <p:nvPr/>
        </p:nvSpPr>
        <p:spPr>
          <a:xfrm>
            <a:off x="594000" y="2286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8" name="Body 8"/>
          <p:cNvSpPr txBox="1"/>
          <p:nvPr/>
        </p:nvSpPr>
        <p:spPr>
          <a:xfrm>
            <a:off x="792000" y="2160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Normalized-text matching is a lower-confidence fallback only.</a:t>
            </a:r>
            <a:endParaRPr lang="en-US" sz="1500"/>
          </a:p>
        </p:txBody>
      </p:sp>
      <p:sp>
        <p:nvSpPr>
          <p:cNvPr id="9" name="Bullet 9"/>
          <p:cNvSpPr/>
          <p:nvPr/>
        </p:nvSpPr>
        <p:spPr>
          <a:xfrm>
            <a:off x="594000" y="3024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0" name="Body 10"/>
          <p:cNvSpPr txBox="1"/>
          <p:nvPr/>
        </p:nvSpPr>
        <p:spPr>
          <a:xfrm>
            <a:off x="792000" y="2898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SHA and SRHR are independent labels with method, rationale and confidence.</a:t>
            </a:r>
            <a:endParaRPr lang="en-US" sz="1500"/>
          </a:p>
        </p:txBody>
      </p:sp>
      <p:sp>
        <p:nvSpPr>
          <p:cNvPr id="11" name="Bullet 11"/>
          <p:cNvSpPr/>
          <p:nvPr/>
        </p:nvSpPr>
        <p:spPr>
          <a:xfrm>
            <a:off x="594000" y="3762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2" name="Body 12"/>
          <p:cNvSpPr txBox="1"/>
          <p:nvPr/>
        </p:nvSpPr>
        <p:spPr>
          <a:xfrm>
            <a:off x="792000" y="3636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≥ 85% confidence auto-classifies; everything else enters review.</a:t>
            </a:r>
            <a:endParaRPr lang="en-US" sz="1500"/>
          </a:p>
        </p:txBody>
      </p:sp>
      <p:sp>
        <p:nvSpPr>
          <p:cNvPr id="13" name="Bullet 13"/>
          <p:cNvSpPr/>
          <p:nvPr/>
        </p:nvSpPr>
        <p:spPr>
          <a:xfrm>
            <a:off x="594000" y="4500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4" name="Body 14"/>
          <p:cNvSpPr txBox="1"/>
          <p:nvPr/>
        </p:nvSpPr>
        <p:spPr>
          <a:xfrm>
            <a:off x="792000" y="4374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Unknown ≠ zero: unsupported assignments remain unmapped.</a:t>
            </a:r>
            <a:endParaRPr lang="en-US" sz="1500"/>
          </a:p>
        </p:txBody>
      </p:sp>
      <p:sp>
        <p:nvSpPr>
          <p:cNvPr id="15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16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6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Profiling found material, manageable uncertainty</a:t>
            </a:r>
            <a:endParaRPr lang="en-US" sz="2500"/>
          </a:p>
        </p:txBody>
      </p:sp>
      <p:sp>
        <p:nvSpPr>
          <p:cNvPr id="5" name="Bullet 5"/>
          <p:cNvSpPr/>
          <p:nvPr/>
        </p:nvSpPr>
        <p:spPr>
          <a:xfrm>
            <a:off x="594000" y="1548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92000" y="1422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7,094 usable facts · 31 blank-amount records quarantined</a:t>
            </a:r>
            <a:endParaRPr lang="en-US" sz="1500"/>
          </a:p>
        </p:txBody>
      </p:sp>
      <p:sp>
        <p:nvSpPr>
          <p:cNvPr id="7" name="Bullet 7"/>
          <p:cNvSpPr/>
          <p:nvPr/>
        </p:nvSpPr>
        <p:spPr>
          <a:xfrm>
            <a:off x="594000" y="2286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8" name="Body 8"/>
          <p:cNvSpPr txBox="1"/>
          <p:nvPr/>
        </p:nvSpPr>
        <p:spPr>
          <a:xfrm>
            <a:off x="792000" y="2160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54 negatives retained as possible reversals · 13 amount formats normalized</a:t>
            </a:r>
            <a:endParaRPr lang="en-US" sz="1500"/>
          </a:p>
        </p:txBody>
      </p:sp>
      <p:sp>
        <p:nvSpPr>
          <p:cNvPr id="9" name="Bullet 9"/>
          <p:cNvSpPr/>
          <p:nvPr/>
        </p:nvSpPr>
        <p:spPr>
          <a:xfrm>
            <a:off x="594000" y="3024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0" name="Body 10"/>
          <p:cNvSpPr txBox="1"/>
          <p:nvPr/>
        </p:nvSpPr>
        <p:spPr>
          <a:xfrm>
            <a:off x="792000" y="2898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216 stored Country C facts in USD · no silent FX conversion</a:t>
            </a:r>
            <a:endParaRPr lang="en-US" sz="1500"/>
          </a:p>
        </p:txBody>
      </p:sp>
      <p:sp>
        <p:nvSpPr>
          <p:cNvPr id="11" name="Bullet 11"/>
          <p:cNvSpPr/>
          <p:nvPr/>
        </p:nvSpPr>
        <p:spPr>
          <a:xfrm>
            <a:off x="594000" y="3762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2" name="Body 12"/>
          <p:cNvSpPr txBox="1"/>
          <p:nvPr/>
        </p:nvSpPr>
        <p:spPr>
          <a:xfrm>
            <a:off x="792000" y="3636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26 missing descriptions · 2 duplicate-ID rows · 1 missing date</a:t>
            </a:r>
            <a:endParaRPr lang="en-US" sz="1500"/>
          </a:p>
        </p:txBody>
      </p:sp>
      <p:sp>
        <p:nvSpPr>
          <p:cNvPr id="13" name="Bullet 13"/>
          <p:cNvSpPr/>
          <p:nvPr/>
        </p:nvSpPr>
        <p:spPr>
          <a:xfrm>
            <a:off x="594000" y="4500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4" name="Body 14"/>
          <p:cNvSpPr txBox="1"/>
          <p:nvPr/>
        </p:nvSpPr>
        <p:spPr>
          <a:xfrm>
            <a:off x="792000" y="4374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5,176 explicit-rule facts · 1,918 unmapped · 2,886 in review queue</a:t>
            </a:r>
            <a:endParaRPr lang="en-US" sz="1500"/>
          </a:p>
        </p:txBody>
      </p:sp>
      <p:sp>
        <p:nvSpPr>
          <p:cNvPr id="15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16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7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Analyst workflow</a:t>
            </a:r>
            <a:endParaRPr lang="en-US" sz="2500"/>
          </a:p>
        </p:txBody>
      </p:sp>
      <p:sp>
        <p:nvSpPr>
          <p:cNvPr id="5" name="Bullet 5"/>
          <p:cNvSpPr/>
          <p:nvPr/>
        </p:nvSpPr>
        <p:spPr>
          <a:xfrm>
            <a:off x="594000" y="1548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92000" y="1422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1  Review currency-specific totals and queue size.</a:t>
            </a:r>
            <a:endParaRPr lang="en-US" sz="1500"/>
          </a:p>
        </p:txBody>
      </p:sp>
      <p:sp>
        <p:nvSpPr>
          <p:cNvPr id="7" name="Bullet 7"/>
          <p:cNvSpPr/>
          <p:nvPr/>
        </p:nvSpPr>
        <p:spPr>
          <a:xfrm>
            <a:off x="594000" y="2286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8" name="Body 8"/>
          <p:cNvSpPr txBox="1"/>
          <p:nvPr/>
        </p:nvSpPr>
        <p:spPr>
          <a:xfrm>
            <a:off x="792000" y="2160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2  Search or filter by country, SHA, SRHR and review status.</a:t>
            </a:r>
            <a:endParaRPr lang="en-US" sz="1500"/>
          </a:p>
        </p:txBody>
      </p:sp>
      <p:sp>
        <p:nvSpPr>
          <p:cNvPr id="9" name="Bullet 9"/>
          <p:cNvSpPr/>
          <p:nvPr/>
        </p:nvSpPr>
        <p:spPr>
          <a:xfrm>
            <a:off x="594000" y="3024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0" name="Body 10"/>
          <p:cNvSpPr txBox="1"/>
          <p:nvPr/>
        </p:nvSpPr>
        <p:spPr>
          <a:xfrm>
            <a:off x="792000" y="2898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3  Inspect rationale, issues, raw source, locator and checksum.</a:t>
            </a:r>
            <a:endParaRPr lang="en-US" sz="1500"/>
          </a:p>
        </p:txBody>
      </p:sp>
      <p:sp>
        <p:nvSpPr>
          <p:cNvPr id="11" name="Bullet 11"/>
          <p:cNvSpPr/>
          <p:nvPr/>
        </p:nvSpPr>
        <p:spPr>
          <a:xfrm>
            <a:off x="594000" y="3762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2" name="Body 12"/>
          <p:cNvSpPr txBox="1"/>
          <p:nvPr/>
        </p:nvSpPr>
        <p:spPr>
          <a:xfrm>
            <a:off x="792000" y="3636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4  Confirm or override using controlled reference codes.</a:t>
            </a:r>
            <a:endParaRPr lang="en-US" sz="1500"/>
          </a:p>
        </p:txBody>
      </p:sp>
      <p:sp>
        <p:nvSpPr>
          <p:cNvPr id="13" name="Bullet 13"/>
          <p:cNvSpPr/>
          <p:nvPr/>
        </p:nvSpPr>
        <p:spPr>
          <a:xfrm>
            <a:off x="594000" y="4500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4" name="Body 14"/>
          <p:cNvSpPr txBox="1"/>
          <p:nvPr/>
        </p:nvSpPr>
        <p:spPr>
          <a:xfrm>
            <a:off x="792000" y="4374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5  Retain analyst, time, before/after values and decision note.</a:t>
            </a:r>
            <a:endParaRPr lang="en-US" sz="1500"/>
          </a:p>
        </p:txBody>
      </p:sp>
      <p:sp>
        <p:nvSpPr>
          <p:cNvPr id="15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16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8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Technology choices and honest trade-offs</a:t>
            </a:r>
            <a:endParaRPr lang="en-US" sz="2500"/>
          </a:p>
        </p:txBody>
      </p:sp>
      <p:sp>
        <p:nvSpPr>
          <p:cNvPr id="5" name="Bullet 5"/>
          <p:cNvSpPr/>
          <p:nvPr/>
        </p:nvSpPr>
        <p:spPr>
          <a:xfrm>
            <a:off x="594000" y="1548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92000" y="1422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Python · clear adapters and a strong future data ecosystem</a:t>
            </a:r>
            <a:endParaRPr lang="en-US" sz="1500"/>
          </a:p>
        </p:txBody>
      </p:sp>
      <p:sp>
        <p:nvSpPr>
          <p:cNvPr id="7" name="Bullet 7"/>
          <p:cNvSpPr/>
          <p:nvPr/>
        </p:nvSpPr>
        <p:spPr>
          <a:xfrm>
            <a:off x="594000" y="2286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8" name="Body 8"/>
          <p:cNvSpPr txBox="1"/>
          <p:nvPr/>
        </p:nvSpPr>
        <p:spPr>
          <a:xfrm>
            <a:off x="792000" y="2160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SQLite · zero-operations demo, integrity, portable relational model</a:t>
            </a:r>
            <a:endParaRPr lang="en-US" sz="1500"/>
          </a:p>
        </p:txBody>
      </p:sp>
      <p:sp>
        <p:nvSpPr>
          <p:cNvPr id="9" name="Bullet 9"/>
          <p:cNvSpPr/>
          <p:nvPr/>
        </p:nvSpPr>
        <p:spPr>
          <a:xfrm>
            <a:off x="594000" y="3024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0" name="Body 10"/>
          <p:cNvSpPr txBox="1"/>
          <p:nvPr/>
        </p:nvSpPr>
        <p:spPr>
          <a:xfrm>
            <a:off x="792000" y="2898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FastAPI · typed, documented API; plain JS keeps the UI light</a:t>
            </a:r>
            <a:endParaRPr lang="en-US" sz="1500"/>
          </a:p>
        </p:txBody>
      </p:sp>
      <p:sp>
        <p:nvSpPr>
          <p:cNvPr id="11" name="Bullet 11"/>
          <p:cNvSpPr/>
          <p:nvPr/>
        </p:nvSpPr>
        <p:spPr>
          <a:xfrm>
            <a:off x="594000" y="3762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2" name="Body 12"/>
          <p:cNvSpPr txBox="1"/>
          <p:nvPr/>
        </p:nvSpPr>
        <p:spPr>
          <a:xfrm>
            <a:off x="792000" y="3636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Standard-library XLSX reader · bounded scope, no Excel dependency</a:t>
            </a:r>
            <a:endParaRPr lang="en-US" sz="1500"/>
          </a:p>
        </p:txBody>
      </p:sp>
      <p:sp>
        <p:nvSpPr>
          <p:cNvPr id="13" name="Bullet 13"/>
          <p:cNvSpPr/>
          <p:nvPr/>
        </p:nvSpPr>
        <p:spPr>
          <a:xfrm>
            <a:off x="594000" y="4500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4" name="Body 14"/>
          <p:cNvSpPr txBox="1"/>
          <p:nvPr/>
        </p:nvSpPr>
        <p:spPr>
          <a:xfrm>
            <a:off x="792000" y="4374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Trade-off · batch rebuild and single-user store are prototype choices.</a:t>
            </a:r>
            <a:endParaRPr lang="en-US" sz="1500"/>
          </a:p>
        </p:txBody>
      </p:sp>
      <p:sp>
        <p:nvSpPr>
          <p:cNvPr id="15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16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9</a:t>
            </a:r>
            <a:endParaRPr 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2000" y="342000"/>
            <a:ext cx="10872000" cy="7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2500" b="1">
                <a:solidFill>
                  <a:srgbClr val="102F3B"/>
                </a:solidFill>
                <a:latin typeface="Aptos"/>
              </a:rPr>
              <a:t>Production path and engagement model</a:t>
            </a:r>
            <a:endParaRPr lang="en-US" sz="2500"/>
          </a:p>
        </p:txBody>
      </p:sp>
      <p:sp>
        <p:nvSpPr>
          <p:cNvPr id="5" name="Bullet 5"/>
          <p:cNvSpPr/>
          <p:nvPr/>
        </p:nvSpPr>
        <p:spPr>
          <a:xfrm>
            <a:off x="594000" y="1548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6" name="Body 6"/>
          <p:cNvSpPr txBox="1"/>
          <p:nvPr/>
        </p:nvSpPr>
        <p:spPr>
          <a:xfrm>
            <a:off x="792000" y="1422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Govern mappings: versions, effective dates, dual approval and gold-set evaluation.</a:t>
            </a:r>
            <a:endParaRPr lang="en-US" sz="1500"/>
          </a:p>
        </p:txBody>
      </p:sp>
      <p:sp>
        <p:nvSpPr>
          <p:cNvPr id="7" name="Bullet 7"/>
          <p:cNvSpPr/>
          <p:nvPr/>
        </p:nvSpPr>
        <p:spPr>
          <a:xfrm>
            <a:off x="594000" y="2286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8" name="Body 8"/>
          <p:cNvSpPr txBox="1"/>
          <p:nvPr/>
        </p:nvSpPr>
        <p:spPr>
          <a:xfrm>
            <a:off x="792000" y="2160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PostgreSQL + immutable landing + orchestration + reconciliation controls.</a:t>
            </a:r>
            <a:endParaRPr lang="en-US" sz="1500"/>
          </a:p>
        </p:txBody>
      </p:sp>
      <p:sp>
        <p:nvSpPr>
          <p:cNvPr id="9" name="Bullet 9"/>
          <p:cNvSpPr/>
          <p:nvPr/>
        </p:nvSpPr>
        <p:spPr>
          <a:xfrm>
            <a:off x="594000" y="3024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0" name="Body 10"/>
          <p:cNvSpPr txBox="1"/>
          <p:nvPr/>
        </p:nvSpPr>
        <p:spPr>
          <a:xfrm>
            <a:off x="792000" y="2898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RBAC/SSO, encryption, privacy review, observability, backup and DR.</a:t>
            </a:r>
            <a:endParaRPr lang="en-US" sz="1500"/>
          </a:p>
        </p:txBody>
      </p:sp>
      <p:sp>
        <p:nvSpPr>
          <p:cNvPr id="11" name="Bullet 11"/>
          <p:cNvSpPr/>
          <p:nvPr/>
        </p:nvSpPr>
        <p:spPr>
          <a:xfrm>
            <a:off x="594000" y="3762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2" name="Body 12"/>
          <p:cNvSpPr txBox="1"/>
          <p:nvPr/>
        </p:nvSpPr>
        <p:spPr>
          <a:xfrm>
            <a:off x="792000" y="3636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Reconcile extracts with country teams before interpreting classifications.</a:t>
            </a:r>
            <a:endParaRPr lang="en-US" sz="1500"/>
          </a:p>
        </p:txBody>
      </p:sp>
      <p:sp>
        <p:nvSpPr>
          <p:cNvPr id="13" name="Bullet 13"/>
          <p:cNvSpPr/>
          <p:nvPr/>
        </p:nvSpPr>
        <p:spPr>
          <a:xfrm>
            <a:off x="594000" y="4500000"/>
            <a:ext cx="90000" cy="90000"/>
          </a:xfrm>
          <a:prstGeom prst="roundRect">
            <a:avLst/>
          </a:prstGeom>
          <a:solidFill>
            <a:srgbClr val="087F73"/>
          </a:solidFill>
          <a:ln>
            <a:noFill/>
          </a:ln>
        </p:spPr>
      </p:sp>
      <p:sp>
        <p:nvSpPr>
          <p:cNvPr id="14" name="Body 14"/>
          <p:cNvSpPr txBox="1"/>
          <p:nvPr/>
        </p:nvSpPr>
        <p:spPr>
          <a:xfrm>
            <a:off x="792000" y="4374000"/>
            <a:ext cx="103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1500">
                <a:solidFill>
                  <a:srgbClr val="23384A"/>
                </a:solidFill>
                <a:latin typeface="Aptos"/>
              </a:rPr>
              <a:t>Iterate with SHA/SRHR experts: review → validate → measure → improve.</a:t>
            </a:r>
            <a:endParaRPr lang="en-US" sz="1500"/>
          </a:p>
        </p:txBody>
      </p:sp>
      <p:sp>
        <p:nvSpPr>
          <p:cNvPr id="15" name="Footer"/>
          <p:cNvSpPr txBox="1"/>
          <p:nvPr/>
        </p:nvSpPr>
        <p:spPr>
          <a:xfrm>
            <a:off x="522000" y="6498000"/>
            <a:ext cx="684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REGIONAL HEALTH EXPENDITURE PROTOTYPE</a:t>
            </a:r>
            <a:endParaRPr lang="en-US" sz="800"/>
          </a:p>
        </p:txBody>
      </p:sp>
      <p:sp>
        <p:nvSpPr>
          <p:cNvPr id="16" name="Slide number"/>
          <p:cNvSpPr txBox="1"/>
          <p:nvPr/>
        </p:nvSpPr>
        <p:spPr>
          <a:xfrm>
            <a:off x="11160000" y="6498000"/>
            <a:ext cx="3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lnSpc>
                <a:spcPct val="115000"/>
              </a:lnSpc>
            </a:pPr>
            <a:r>
              <a:rPr lang="en-US" sz="800" b="1">
                <a:solidFill>
                  <a:srgbClr val="617087"/>
                </a:solidFill>
                <a:latin typeface="Aptos"/>
              </a:rPr>
              <a:t>10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totype">
  <a:themeElements>
    <a:clrScheme name="Prototype">
      <a:dk1>
        <a:srgbClr val="102F3B"/>
      </a:dk1>
      <a:lt1>
        <a:srgbClr val="FFFFFF"/>
      </a:lt1>
      <a:dk2>
        <a:srgbClr val="23384A"/>
      </a:dk2>
      <a:lt2>
        <a:srgbClr val="F4F7F6"/>
      </a:lt2>
      <a:accent1>
        <a:srgbClr val="087F73"/>
      </a:accent1>
      <a:accent2>
        <a:srgbClr val="315C67"/>
      </a:accent2>
      <a:accent3>
        <a:srgbClr val="B56800"/>
      </a:accent3>
      <a:accent4>
        <a:srgbClr val="617087"/>
      </a:accent4>
      <a:accent5>
        <a:srgbClr val="DCEDEA"/>
      </a:accent5>
      <a:accent6>
        <a:srgbClr val="E7EEF2"/>
      </a:accent6>
      <a:hlink>
        <a:srgbClr val="0563C1"/>
      </a:hlink>
      <a:folHlink>
        <a:srgbClr val="954F72"/>
      </a:folHlink>
    </a:clrScheme>
    <a:fontScheme name="Prototyp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rototyp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Health Expenditure Harmonisation Prototype</dc:title>
  <dc:creator>Assessment candidate</dc:creator>
  <dcterms:created xsi:type="dcterms:W3CDTF">2026-09-20T10:32:15Z</dcterms:created>
</cp:coreProperties>
</file>